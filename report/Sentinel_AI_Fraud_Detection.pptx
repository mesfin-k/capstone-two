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62" r:id="rId10"/>
    <p:sldId id="263" r:id="rId11"/>
    <p:sldId id="264" r:id="rId12"/>
    <p:sldId id="278" r:id="rId13"/>
    <p:sldId id="265" r:id="rId14"/>
    <p:sldId id="266" r:id="rId15"/>
    <p:sldId id="267" r:id="rId16"/>
    <p:sldId id="268" r:id="rId17"/>
    <p:sldId id="269" r:id="rId18"/>
    <p:sldId id="279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C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9D664-C6D8-4D6C-BD37-714195005BEF}" v="12" dt="2025-09-24T00:14:31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78215" autoAdjust="0"/>
  </p:normalViewPr>
  <p:slideViewPr>
    <p:cSldViewPr snapToGrid="0" snapToObjects="1">
      <p:cViewPr>
        <p:scale>
          <a:sx n="85" d="100"/>
          <a:sy n="85" d="100"/>
        </p:scale>
        <p:origin x="9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sfin Kebede" userId="2c1727089d54c137" providerId="LiveId" clId="{28A00E82-2FC8-4823-854E-E64E00EEA769}"/>
    <pc:docChg chg="undo custSel delSld modSld">
      <pc:chgData name="Mesfin Kebede" userId="2c1727089d54c137" providerId="LiveId" clId="{28A00E82-2FC8-4823-854E-E64E00EEA769}" dt="2025-09-24T00:21:16.728" v="279" actId="14100"/>
      <pc:docMkLst>
        <pc:docMk/>
      </pc:docMkLst>
      <pc:sldChg chg="addSp delSp modSp mod setBg">
        <pc:chgData name="Mesfin Kebede" userId="2c1727089d54c137" providerId="LiveId" clId="{28A00E82-2FC8-4823-854E-E64E00EEA769}" dt="2025-09-24T00:18:11.232" v="259" actId="14100"/>
        <pc:sldMkLst>
          <pc:docMk/>
          <pc:sldMk cId="0" sldId="256"/>
        </pc:sldMkLst>
        <pc:spChg chg="del mod">
          <ac:chgData name="Mesfin Kebede" userId="2c1727089d54c137" providerId="LiveId" clId="{28A00E82-2FC8-4823-854E-E64E00EEA769}" dt="2025-09-23T22:27:26.812" v="14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Mesfin Kebede" userId="2c1727089d54c137" providerId="LiveId" clId="{28A00E82-2FC8-4823-854E-E64E00EEA769}" dt="2025-09-24T00:18:11.232" v="259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Mesfin Kebede" userId="2c1727089d54c137" providerId="LiveId" clId="{28A00E82-2FC8-4823-854E-E64E00EEA769}" dt="2025-09-23T22:56:40.053" v="33" actId="1076"/>
          <ac:spMkLst>
            <pc:docMk/>
            <pc:sldMk cId="0" sldId="256"/>
            <ac:spMk id="5" creationId="{00000000-0000-0000-0000-000000000000}"/>
          </ac:spMkLst>
        </pc:spChg>
        <pc:picChg chg="add del mod">
          <ac:chgData name="Mesfin Kebede" userId="2c1727089d54c137" providerId="LiveId" clId="{28A00E82-2FC8-4823-854E-E64E00EEA769}" dt="2025-09-23T22:25:51.976" v="3" actId="478"/>
          <ac:picMkLst>
            <pc:docMk/>
            <pc:sldMk cId="0" sldId="256"/>
            <ac:picMk id="7" creationId="{8C210EBE-0AFD-B1B6-F5EC-4F17BB05ED7D}"/>
          </ac:picMkLst>
        </pc:picChg>
        <pc:picChg chg="add mod ord">
          <ac:chgData name="Mesfin Kebede" userId="2c1727089d54c137" providerId="LiveId" clId="{28A00E82-2FC8-4823-854E-E64E00EEA769}" dt="2025-09-23T22:56:28.695" v="32" actId="1076"/>
          <ac:picMkLst>
            <pc:docMk/>
            <pc:sldMk cId="0" sldId="256"/>
            <ac:picMk id="9" creationId="{006B7BF0-1C4A-B931-D0B6-27BFDFF458B8}"/>
          </ac:picMkLst>
        </pc:picChg>
      </pc:sldChg>
      <pc:sldChg chg="modSp mod setBg">
        <pc:chgData name="Mesfin Kebede" userId="2c1727089d54c137" providerId="LiveId" clId="{28A00E82-2FC8-4823-854E-E64E00EEA769}" dt="2025-09-24T00:18:19.920" v="260" actId="14100"/>
        <pc:sldMkLst>
          <pc:docMk/>
          <pc:sldMk cId="0" sldId="257"/>
        </pc:sldMkLst>
        <pc:spChg chg="mod">
          <ac:chgData name="Mesfin Kebede" userId="2c1727089d54c137" providerId="LiveId" clId="{28A00E82-2FC8-4823-854E-E64E00EEA769}" dt="2025-09-23T22:29:53.989" v="25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esfin Kebede" userId="2c1727089d54c137" providerId="LiveId" clId="{28A00E82-2FC8-4823-854E-E64E00EEA769}" dt="2025-09-24T00:18:19.920" v="260" actId="14100"/>
          <ac:spMkLst>
            <pc:docMk/>
            <pc:sldMk cId="0" sldId="257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8:28.320" v="261" actId="14100"/>
        <pc:sldMkLst>
          <pc:docMk/>
          <pc:sldMk cId="0" sldId="258"/>
        </pc:sldMkLst>
        <pc:spChg chg="mod">
          <ac:chgData name="Mesfin Kebede" userId="2c1727089d54c137" providerId="LiveId" clId="{28A00E82-2FC8-4823-854E-E64E00EEA769}" dt="2025-09-24T00:18:28.320" v="261" actId="14100"/>
          <ac:spMkLst>
            <pc:docMk/>
            <pc:sldMk cId="0" sldId="258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8:34.462" v="262" actId="14100"/>
        <pc:sldMkLst>
          <pc:docMk/>
          <pc:sldMk cId="0" sldId="259"/>
        </pc:sldMkLst>
        <pc:spChg chg="mod">
          <ac:chgData name="Mesfin Kebede" userId="2c1727089d54c137" providerId="LiveId" clId="{28A00E82-2FC8-4823-854E-E64E00EEA769}" dt="2025-09-24T00:18:34.462" v="262" actId="14100"/>
          <ac:spMkLst>
            <pc:docMk/>
            <pc:sldMk cId="0" sldId="259"/>
            <ac:spMk id="4" creationId="{00000000-0000-0000-0000-000000000000}"/>
          </ac:spMkLst>
        </pc:spChg>
      </pc:sldChg>
      <pc:sldChg chg="delSp modSp mod setBg">
        <pc:chgData name="Mesfin Kebede" userId="2c1727089d54c137" providerId="LiveId" clId="{28A00E82-2FC8-4823-854E-E64E00EEA769}" dt="2025-09-24T00:18:40.131" v="263" actId="14100"/>
        <pc:sldMkLst>
          <pc:docMk/>
          <pc:sldMk cId="0" sldId="260"/>
        </pc:sldMkLst>
        <pc:spChg chg="del">
          <ac:chgData name="Mesfin Kebede" userId="2c1727089d54c137" providerId="LiveId" clId="{28A00E82-2FC8-4823-854E-E64E00EEA769}" dt="2025-09-23T23:43:00.808" v="34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Mesfin Kebede" userId="2c1727089d54c137" providerId="LiveId" clId="{28A00E82-2FC8-4823-854E-E64E00EEA769}" dt="2025-09-24T00:18:40.131" v="263" actId="14100"/>
          <ac:spMkLst>
            <pc:docMk/>
            <pc:sldMk cId="0" sldId="260"/>
            <ac:spMk id="4" creationId="{00000000-0000-0000-0000-000000000000}"/>
          </ac:spMkLst>
        </pc:spChg>
        <pc:picChg chg="mod">
          <ac:chgData name="Mesfin Kebede" userId="2c1727089d54c137" providerId="LiveId" clId="{28A00E82-2FC8-4823-854E-E64E00EEA769}" dt="2025-09-24T00:16:13.373" v="186" actId="14100"/>
          <ac:picMkLst>
            <pc:docMk/>
            <pc:sldMk cId="0" sldId="260"/>
            <ac:picMk id="8" creationId="{349653B9-5F36-B7E6-C820-3993DAEE6A83}"/>
          </ac:picMkLst>
        </pc:picChg>
      </pc:sldChg>
      <pc:sldChg chg="modSp mod setBg">
        <pc:chgData name="Mesfin Kebede" userId="2c1727089d54c137" providerId="LiveId" clId="{28A00E82-2FC8-4823-854E-E64E00EEA769}" dt="2025-09-24T00:18:45.217" v="264" actId="14100"/>
        <pc:sldMkLst>
          <pc:docMk/>
          <pc:sldMk cId="0" sldId="261"/>
        </pc:sldMkLst>
        <pc:spChg chg="mod">
          <ac:chgData name="Mesfin Kebede" userId="2c1727089d54c137" providerId="LiveId" clId="{28A00E82-2FC8-4823-854E-E64E00EEA769}" dt="2025-09-24T00:18:45.217" v="264" actId="14100"/>
          <ac:spMkLst>
            <pc:docMk/>
            <pc:sldMk cId="0" sldId="261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9:03.930" v="267" actId="14100"/>
        <pc:sldMkLst>
          <pc:docMk/>
          <pc:sldMk cId="0" sldId="262"/>
        </pc:sldMkLst>
        <pc:spChg chg="mod">
          <ac:chgData name="Mesfin Kebede" userId="2c1727089d54c137" providerId="LiveId" clId="{28A00E82-2FC8-4823-854E-E64E00EEA769}" dt="2025-09-24T00:19:03.930" v="267" actId="14100"/>
          <ac:spMkLst>
            <pc:docMk/>
            <pc:sldMk cId="0" sldId="262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9:08.624" v="268" actId="14100"/>
        <pc:sldMkLst>
          <pc:docMk/>
          <pc:sldMk cId="0" sldId="263"/>
        </pc:sldMkLst>
        <pc:spChg chg="mod">
          <ac:chgData name="Mesfin Kebede" userId="2c1727089d54c137" providerId="LiveId" clId="{28A00E82-2FC8-4823-854E-E64E00EEA769}" dt="2025-09-24T00:19:08.624" v="268" actId="14100"/>
          <ac:spMkLst>
            <pc:docMk/>
            <pc:sldMk cId="0" sldId="263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9:16.984" v="269" actId="14100"/>
        <pc:sldMkLst>
          <pc:docMk/>
          <pc:sldMk cId="0" sldId="264"/>
        </pc:sldMkLst>
        <pc:spChg chg="mod">
          <ac:chgData name="Mesfin Kebede" userId="2c1727089d54c137" providerId="LiveId" clId="{28A00E82-2FC8-4823-854E-E64E00EEA769}" dt="2025-09-24T00:19:16.984" v="269" actId="14100"/>
          <ac:spMkLst>
            <pc:docMk/>
            <pc:sldMk cId="0" sldId="264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9:39.587" v="272" actId="14100"/>
        <pc:sldMkLst>
          <pc:docMk/>
          <pc:sldMk cId="0" sldId="265"/>
        </pc:sldMkLst>
        <pc:spChg chg="mod">
          <ac:chgData name="Mesfin Kebede" userId="2c1727089d54c137" providerId="LiveId" clId="{28A00E82-2FC8-4823-854E-E64E00EEA769}" dt="2025-09-24T00:19:39.587" v="272" actId="14100"/>
          <ac:spMkLst>
            <pc:docMk/>
            <pc:sldMk cId="0" sldId="265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19:31.105" v="271" actId="14100"/>
        <pc:sldMkLst>
          <pc:docMk/>
          <pc:sldMk cId="0" sldId="266"/>
        </pc:sldMkLst>
        <pc:spChg chg="mod">
          <ac:chgData name="Mesfin Kebede" userId="2c1727089d54c137" providerId="LiveId" clId="{28A00E82-2FC8-4823-854E-E64E00EEA769}" dt="2025-09-24T00:19:31.105" v="271" actId="14100"/>
          <ac:spMkLst>
            <pc:docMk/>
            <pc:sldMk cId="0" sldId="266"/>
            <ac:spMk id="4" creationId="{00000000-0000-0000-0000-000000000000}"/>
          </ac:spMkLst>
        </pc:spChg>
      </pc:sldChg>
      <pc:sldChg chg="modSp mod setBg modNotesTx">
        <pc:chgData name="Mesfin Kebede" userId="2c1727089d54c137" providerId="LiveId" clId="{28A00E82-2FC8-4823-854E-E64E00EEA769}" dt="2025-09-24T00:19:47.423" v="273" actId="14100"/>
        <pc:sldMkLst>
          <pc:docMk/>
          <pc:sldMk cId="0" sldId="267"/>
        </pc:sldMkLst>
        <pc:spChg chg="mod">
          <ac:chgData name="Mesfin Kebede" userId="2c1727089d54c137" providerId="LiveId" clId="{28A00E82-2FC8-4823-854E-E64E00EEA769}" dt="2025-09-24T00:19:47.423" v="273" actId="14100"/>
          <ac:spMkLst>
            <pc:docMk/>
            <pc:sldMk cId="0" sldId="267"/>
            <ac:spMk id="4" creationId="{00000000-0000-0000-0000-000000000000}"/>
          </ac:spMkLst>
        </pc:spChg>
      </pc:sldChg>
      <pc:sldChg chg="modSp mod setBg modNotesTx">
        <pc:chgData name="Mesfin Kebede" userId="2c1727089d54c137" providerId="LiveId" clId="{28A00E82-2FC8-4823-854E-E64E00EEA769}" dt="2025-09-24T00:19:59.270" v="274" actId="14100"/>
        <pc:sldMkLst>
          <pc:docMk/>
          <pc:sldMk cId="0" sldId="268"/>
        </pc:sldMkLst>
        <pc:spChg chg="mod">
          <ac:chgData name="Mesfin Kebede" userId="2c1727089d54c137" providerId="LiveId" clId="{28A00E82-2FC8-4823-854E-E64E00EEA769}" dt="2025-09-24T00:19:59.270" v="274" actId="14100"/>
          <ac:spMkLst>
            <pc:docMk/>
            <pc:sldMk cId="0" sldId="268"/>
            <ac:spMk id="4" creationId="{00000000-0000-0000-0000-000000000000}"/>
          </ac:spMkLst>
        </pc:spChg>
      </pc:sldChg>
      <pc:sldChg chg="setBg">
        <pc:chgData name="Mesfin Kebede" userId="2c1727089d54c137" providerId="LiveId" clId="{28A00E82-2FC8-4823-854E-E64E00EEA769}" dt="2025-09-24T00:14:31.527" v="181"/>
        <pc:sldMkLst>
          <pc:docMk/>
          <pc:sldMk cId="0" sldId="269"/>
        </pc:sldMkLst>
      </pc:sldChg>
      <pc:sldChg chg="modSp mod setBg modNotesTx">
        <pc:chgData name="Mesfin Kebede" userId="2c1727089d54c137" providerId="LiveId" clId="{28A00E82-2FC8-4823-854E-E64E00EEA769}" dt="2025-09-24T00:20:51.318" v="276" actId="14100"/>
        <pc:sldMkLst>
          <pc:docMk/>
          <pc:sldMk cId="0" sldId="270"/>
        </pc:sldMkLst>
        <pc:spChg chg="mod">
          <ac:chgData name="Mesfin Kebede" userId="2c1727089d54c137" providerId="LiveId" clId="{28A00E82-2FC8-4823-854E-E64E00EEA769}" dt="2025-09-24T00:20:51.318" v="276" actId="14100"/>
          <ac:spMkLst>
            <pc:docMk/>
            <pc:sldMk cId="0" sldId="270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21:09.080" v="278" actId="14100"/>
        <pc:sldMkLst>
          <pc:docMk/>
          <pc:sldMk cId="0" sldId="271"/>
        </pc:sldMkLst>
        <pc:spChg chg="mod">
          <ac:chgData name="Mesfin Kebede" userId="2c1727089d54c137" providerId="LiveId" clId="{28A00E82-2FC8-4823-854E-E64E00EEA769}" dt="2025-09-24T00:21:09.080" v="278" actId="14100"/>
          <ac:spMkLst>
            <pc:docMk/>
            <pc:sldMk cId="0" sldId="271"/>
            <ac:spMk id="4" creationId="{00000000-0000-0000-0000-000000000000}"/>
          </ac:spMkLst>
        </pc:spChg>
      </pc:sldChg>
      <pc:sldChg chg="modSp mod setBg">
        <pc:chgData name="Mesfin Kebede" userId="2c1727089d54c137" providerId="LiveId" clId="{28A00E82-2FC8-4823-854E-E64E00EEA769}" dt="2025-09-24T00:21:16.728" v="279" actId="14100"/>
        <pc:sldMkLst>
          <pc:docMk/>
          <pc:sldMk cId="0" sldId="272"/>
        </pc:sldMkLst>
        <pc:spChg chg="mod">
          <ac:chgData name="Mesfin Kebede" userId="2c1727089d54c137" providerId="LiveId" clId="{28A00E82-2FC8-4823-854E-E64E00EEA769}" dt="2025-09-24T00:21:16.728" v="279" actId="14100"/>
          <ac:spMkLst>
            <pc:docMk/>
            <pc:sldMk cId="0" sldId="272"/>
            <ac:spMk id="4" creationId="{00000000-0000-0000-0000-000000000000}"/>
          </ac:spMkLst>
        </pc:spChg>
      </pc:sldChg>
      <pc:sldChg chg="setBg">
        <pc:chgData name="Mesfin Kebede" userId="2c1727089d54c137" providerId="LiveId" clId="{28A00E82-2FC8-4823-854E-E64E00EEA769}" dt="2025-09-24T00:14:31.527" v="181"/>
        <pc:sldMkLst>
          <pc:docMk/>
          <pc:sldMk cId="0" sldId="273"/>
        </pc:sldMkLst>
      </pc:sldChg>
      <pc:sldChg chg="del">
        <pc:chgData name="Mesfin Kebede" userId="2c1727089d54c137" providerId="LiveId" clId="{28A00E82-2FC8-4823-854E-E64E00EEA769}" dt="2025-09-23T23:47:59.273" v="174" actId="2696"/>
        <pc:sldMkLst>
          <pc:docMk/>
          <pc:sldMk cId="0" sldId="274"/>
        </pc:sldMkLst>
      </pc:sldChg>
      <pc:sldChg chg="modSp mod setBg">
        <pc:chgData name="Mesfin Kebede" userId="2c1727089d54c137" providerId="LiveId" clId="{28A00E82-2FC8-4823-854E-E64E00EEA769}" dt="2025-09-24T00:18:50.541" v="265" actId="14100"/>
        <pc:sldMkLst>
          <pc:docMk/>
          <pc:sldMk cId="287749208" sldId="276"/>
        </pc:sldMkLst>
        <pc:spChg chg="mod">
          <ac:chgData name="Mesfin Kebede" userId="2c1727089d54c137" providerId="LiveId" clId="{28A00E82-2FC8-4823-854E-E64E00EEA769}" dt="2025-09-24T00:18:50.541" v="265" actId="14100"/>
          <ac:spMkLst>
            <pc:docMk/>
            <pc:sldMk cId="287749208" sldId="276"/>
            <ac:spMk id="4" creationId="{A18A74F4-26A3-DC22-1348-0A6666FE20D2}"/>
          </ac:spMkLst>
        </pc:spChg>
      </pc:sldChg>
      <pc:sldChg chg="modSp mod setBg">
        <pc:chgData name="Mesfin Kebede" userId="2c1727089d54c137" providerId="LiveId" clId="{28A00E82-2FC8-4823-854E-E64E00EEA769}" dt="2025-09-24T00:18:57.435" v="266" actId="14100"/>
        <pc:sldMkLst>
          <pc:docMk/>
          <pc:sldMk cId="1447210737" sldId="277"/>
        </pc:sldMkLst>
        <pc:spChg chg="mod">
          <ac:chgData name="Mesfin Kebede" userId="2c1727089d54c137" providerId="LiveId" clId="{28A00E82-2FC8-4823-854E-E64E00EEA769}" dt="2025-09-24T00:18:57.435" v="266" actId="14100"/>
          <ac:spMkLst>
            <pc:docMk/>
            <pc:sldMk cId="1447210737" sldId="277"/>
            <ac:spMk id="4" creationId="{EFAEC5B2-3C09-181B-928A-FFA630AE7C5D}"/>
          </ac:spMkLst>
        </pc:spChg>
      </pc:sldChg>
      <pc:sldChg chg="modSp mod setBg">
        <pc:chgData name="Mesfin Kebede" userId="2c1727089d54c137" providerId="LiveId" clId="{28A00E82-2FC8-4823-854E-E64E00EEA769}" dt="2025-09-24T00:19:23.119" v="270" actId="14100"/>
        <pc:sldMkLst>
          <pc:docMk/>
          <pc:sldMk cId="533781147" sldId="278"/>
        </pc:sldMkLst>
        <pc:spChg chg="mod">
          <ac:chgData name="Mesfin Kebede" userId="2c1727089d54c137" providerId="LiveId" clId="{28A00E82-2FC8-4823-854E-E64E00EEA769}" dt="2025-09-24T00:19:23.119" v="270" actId="14100"/>
          <ac:spMkLst>
            <pc:docMk/>
            <pc:sldMk cId="533781147" sldId="278"/>
            <ac:spMk id="4" creationId="{F903DF50-853E-E039-DB82-66693ADEFAC0}"/>
          </ac:spMkLst>
        </pc:spChg>
      </pc:sldChg>
      <pc:sldChg chg="modSp mod setBg">
        <pc:chgData name="Mesfin Kebede" userId="2c1727089d54c137" providerId="LiveId" clId="{28A00E82-2FC8-4823-854E-E64E00EEA769}" dt="2025-09-24T00:20:08.354" v="275" actId="14100"/>
        <pc:sldMkLst>
          <pc:docMk/>
          <pc:sldMk cId="652848969" sldId="279"/>
        </pc:sldMkLst>
        <pc:spChg chg="mod">
          <ac:chgData name="Mesfin Kebede" userId="2c1727089d54c137" providerId="LiveId" clId="{28A00E82-2FC8-4823-854E-E64E00EEA769}" dt="2025-09-24T00:20:08.354" v="275" actId="14100"/>
          <ac:spMkLst>
            <pc:docMk/>
            <pc:sldMk cId="652848969" sldId="279"/>
            <ac:spMk id="4" creationId="{3FA3830D-BF9A-7B35-5AE3-9044EBFA98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58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Good morning/afternoon, everyone. [Pause – 2 sec] Imagine a world where digital transactions are fast and convenient, but fraud lurks beneath, costing billions. [Emphasize] Today, I'll share the story of Sentinel, my capstone project using AI to detect fraud in mobile money transactions. [Pause] We'll journey from raw data to a powerful detection system. Let's begin. [Look at audience]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Here’s our roadmap. [Pause] We'll start with the challenge, then wrangle the messy data, uncover hidden patterns through EDA, prepare for modeling, test and evaluate models, reflect on key insights, and finish with recommendations. [Pause – 1 sec] A complete journey,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Fraud in mobile money is like a shark in an ocean of safe transactions. [Pause – 2 sec] Rare, but dangerous. Our goal: [Emphasize] catch as many sharks as possible without slowing down the ocean. PaySim gives us a realistic testbed with millions of simulated transactions. [Look at audience]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story begins with chaos. [Pause – 1 sec] Raw data was huge and messy. We trimmed it to TRANSFER and CASH_OUT, removed noise, fixed zeros and outliers, and checked balances for consistency. [Emphasize] The result: a clean dataset where fraud patterns start to show. [Pause]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is our detective work. [Pause] First clue: class imbalance. Fraud was less than 0.1%. [Emphasize] That’s like finding one needle in a thousand haystacks. Feature distributions revealed skew and extreme outliers. Transaction type counts confirmed TRANSFER and CASH_OUT dominate. [Pause – 2 sec]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Next, relationships. [Pause] Correlation heatmaps showed balances strongly linked to fraud.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3DAC-8784-210D-FB9E-A4ADE2C1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34843-49FE-DCF2-55EA-50AAB3DD5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C3B2C-C049-E40E-E8E5-62EB65FB9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Next, Violin plots revealed fraud concentrated at high transaction amounts.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49D31-FC8E-1374-C689-F6319B428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3445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05CE-E499-842A-6B3E-DF0B6DCB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66473-0854-3D36-62BA-96B6C38C8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F01BE-6742-BE5B-9B03-4FBB766F4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Next, </a:t>
            </a:r>
            <a:r>
              <a:rPr lang="en-US" dirty="0"/>
              <a:t>t</a:t>
            </a:r>
            <a:r>
              <a:rPr dirty="0"/>
              <a:t>ime series showed fraud scattered without obvious peaks. [Emphasize] Fraud hides in the data, but leaves subtle fingerprints. [Pause]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E02D-2E30-5D0A-1467-083DD4FA0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69106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gave us three key lessons. [Pause] One, imbalance is severe—SMOTE will help. Two, engineered features like balance deltas carry fraud signals. Three, inconsistencies in balances are red flags. [Emphasize] These insights guided all preprocessing and modeling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insights in hand, we prepared the data. [Pause] Dropped leakage-prone fields, engineered new features, encoded transaction types, scaled continuous features, and stratified splits to keep fraud representation realistic. [Look at audience] This gave us a fair, balanced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Visual checks mattered. [Pause] Log transformations normalized skewed features, making them model-friendly.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C4E1-95D1-01E7-AAA8-754AD75B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0FA1F-E801-B354-7E25-8F14350E2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EE0D4-B0EF-334F-A44A-F2BAEB1B1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Fraud vs non-fraud splits confirmed stratified sampling worked. [Emphasize] The stage was now set for modeling. [Pause – 1 sec]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896F5-5774-4BF2-DCCF-35BA31526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4931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Modeling setup was designed for realism. [Pause] We used temporal splits to mimic deployment, ensuring no future data leaked. Safe feature sets avoided shortcuts. Scaling guaranteed fair treatment across models. [Emphasize] This was not just technical, but ethical design. [Pause]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sophisticated models, we checked baselines. [Pause] If recall was too low, we applied SMOTE to resample fraud cases. [Emphasize] Catching fraud mattered more than overall accuracy. Then, we deployed three models: Logistic Regression, Random Forest, and XGBoost. [Pause – 1 sec]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Logistic Regression was simple but effective. [Pause] Fraud recall hit ~92%, with strong balance between catching fraud and avoiding false alarms. [Emphasize] Sometimes simplicity is powerful. [Pause – 1 sec]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Random Forest excelled. [Pause – 2 sec] Its ensemble trees captured nonlinearities, pushing fraud recall as high as 100% in some cases. [Emphasize] A reliable, business-friendly choice. [Look at audience]</a:t>
            </a:r>
            <a:endParaRPr lang="en-US" dirty="0"/>
          </a:p>
          <a:p>
            <a:endParaRPr lang="en-US" dirty="0"/>
          </a:p>
          <a:p>
            <a:r>
              <a:rPr lang="en-US" dirty="0"/>
              <a:t>We’re detecting fraud in mobile money. The data are highly imbalanced, so we focus on recall and F1. We engineered balance-consistency features and applied SMOTE. Comparing three models, </a:t>
            </a:r>
            <a:r>
              <a:rPr lang="en-US" b="1" dirty="0"/>
              <a:t>Random Forest with SMOTE</a:t>
            </a:r>
            <a:r>
              <a:rPr lang="en-US" dirty="0"/>
              <a:t> gave the best balance of recall, F1, and AUC. It’s straightforward to deploy as an API with monitoring and periodic retraining.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XGBoost proved the heavyweight. [Pause] By tuning thresholds, we boosted fraud recall while managing precision. [Emphasize] Feature importance confirmed: balances were the most powerful fraud indicators. [Pause – 2 sec] This was Sentinel at full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09C2-6D0B-1AD9-3076-1DC3D421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B5A4C-136B-2FA3-7ABA-8BF836FD8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FE78D-0D73-2D79-0FE5-9CDD2D076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Comparing results, each model had strengths. Logistic Regression: reliable. Random Forest: robust with high recall. </a:t>
            </a:r>
            <a:r>
              <a:rPr dirty="0" err="1"/>
              <a:t>XGBoost</a:t>
            </a:r>
            <a:r>
              <a:rPr dirty="0"/>
              <a:t>: best overall, especially with tuning. [Pause] ROC and precision-recall curves showed Sentinel could catch fraud without overwhelming false positives. [Emphasize] Business value confirmed.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6DB01-C2A9-4951-36CA-D298CF43B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81262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 dirty="0"/>
              <a:t>“This chart compares three models: Logistic Regression, Random Forest, and </a:t>
            </a:r>
            <a:r>
              <a:rPr lang="en-US" b="0" i="0" dirty="0" err="1"/>
              <a:t>XGBoost</a:t>
            </a:r>
            <a:r>
              <a:rPr lang="en-US" b="0" i="0" dirty="0"/>
              <a:t>.”</a:t>
            </a:r>
          </a:p>
          <a:p>
            <a:r>
              <a:rPr lang="en-US" b="0" i="0" dirty="0"/>
              <a:t>“Logistic Regression has the highest recall at around 95%, which means it detects nearly all fraud cases. However, its F1 score is very low — showing it generates many false positives.”</a:t>
            </a:r>
          </a:p>
          <a:p>
            <a:endParaRPr lang="en-US" b="0" i="0" dirty="0"/>
          </a:p>
          <a:p>
            <a:endParaRPr lang="en-US" b="0" i="0" dirty="0"/>
          </a:p>
          <a:p>
            <a:r>
              <a:rPr lang="en-US" dirty="0"/>
              <a:t>Logistic Regression is recall-heavy but noisy. </a:t>
            </a:r>
            <a:r>
              <a:rPr lang="en-US" dirty="0" err="1"/>
              <a:t>XGBoost</a:t>
            </a:r>
            <a:r>
              <a:rPr lang="en-US" dirty="0"/>
              <a:t> is strong on AUC, but SMOTE trades precision for recall. </a:t>
            </a:r>
            <a:r>
              <a:rPr lang="en-US" b="1" dirty="0"/>
              <a:t>Random Forest</a:t>
            </a:r>
            <a:r>
              <a:rPr lang="en-US" dirty="0"/>
              <a:t> consistently improves recall </a:t>
            </a:r>
            <a:r>
              <a:rPr lang="en-US" b="1" dirty="0"/>
              <a:t>and</a:t>
            </a:r>
            <a:r>
              <a:rPr lang="en-US" dirty="0"/>
              <a:t> F1 under SMOTE, reaching AUC ≈ 0.98. That’s why I recommend RF + SMOTE with threshold tuning for production.</a:t>
            </a:r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lessons emerged. [Pause] First, balances dominate fraud signals. Second, temporal splits prevent leakage. Third, SMOTE helps but must be applied cautiously. Fourth, high recall—over 92%—is possible. [Emphasize] These lessons guide future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chaos to clarity. [Pause – 2 sec] Sentinel is not just a model; it’s a roadmap for fraud detection. Deploy as an API, retrain quarterly, enhance with ensembles. [Emphasize] The result: up to 90% reduction in fraud losses. [Look at audience] The impact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following this journey. [Pause] I welcome your questions and feedback. [Look at audience] Let’s discuss how Sentinel can evolve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6B7BF0-1C4A-B931-D0B6-27BFDFF45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1448"/>
            <a:ext cx="2384391" cy="2384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277586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74758" y="2136338"/>
            <a:ext cx="5650521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Capstone Project: Detecting Fraud in </a:t>
            </a:r>
            <a:r>
              <a:rPr dirty="0" err="1"/>
              <a:t>PaySim</a:t>
            </a:r>
            <a:r>
              <a:rPr dirty="0"/>
              <a:t> Dataset</a:t>
            </a:r>
            <a:br>
              <a:rPr dirty="0"/>
            </a:br>
            <a:r>
              <a:rPr dirty="0"/>
              <a:t>Author: Mesfin K</a:t>
            </a:r>
            <a:br>
              <a:rPr dirty="0"/>
            </a:br>
            <a:r>
              <a:rPr dirty="0"/>
              <a:t>GitHub: https://github.com/mesfin-k/capstone-two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 of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24492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1. Project Overview: The Challenge</a:t>
            </a:r>
            <a:br>
              <a:rPr dirty="0"/>
            </a:br>
            <a:r>
              <a:rPr dirty="0"/>
              <a:t>2. Data Wrangling: Taming the Data</a:t>
            </a:r>
            <a:br>
              <a:rPr dirty="0"/>
            </a:br>
            <a:r>
              <a:rPr dirty="0"/>
              <a:t>3. Exploratory Data Analysis (EDA)</a:t>
            </a:r>
            <a:br>
              <a:rPr dirty="0"/>
            </a:br>
            <a:r>
              <a:rPr dirty="0"/>
              <a:t>4. Preprocessing: Preparing for Modeling</a:t>
            </a:r>
            <a:br>
              <a:rPr dirty="0"/>
            </a:br>
            <a:r>
              <a:rPr dirty="0"/>
              <a:t>5. Modeling &amp; Evaluation</a:t>
            </a:r>
            <a:br>
              <a:rPr dirty="0"/>
            </a:br>
            <a:r>
              <a:rPr dirty="0"/>
              <a:t>6. Key Insights &amp; Results</a:t>
            </a:r>
            <a:br>
              <a:rPr dirty="0"/>
            </a:br>
            <a:r>
              <a:rPr dirty="0"/>
              <a:t>7. Conclusion &amp; Recommendations</a:t>
            </a:r>
            <a:br>
              <a:rPr dirty="0"/>
            </a:br>
            <a:r>
              <a:rPr dirty="0"/>
              <a:t>8.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1315" y="392233"/>
            <a:ext cx="63354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rPr dirty="0"/>
              <a:t>Project Overview - 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261257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4880" y="1737157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Problem: Fraud in mobile money costs billions.</a:t>
            </a:r>
            <a:br>
              <a:rPr dirty="0"/>
            </a:br>
            <a:r>
              <a:rPr dirty="0"/>
              <a:t>Objectives: High recall, focus on TRANSFER &amp; CASH_OUT.</a:t>
            </a:r>
            <a:br>
              <a:rPr dirty="0"/>
            </a:br>
            <a:r>
              <a:rPr dirty="0"/>
              <a:t>Dataset: Synthetic, 6.3M records.</a:t>
            </a:r>
            <a:br>
              <a:rPr dirty="0"/>
            </a:br>
            <a:r>
              <a:rPr dirty="0"/>
              <a:t>Approach: CRISP-DM, Python, Scikit-learn, </a:t>
            </a:r>
            <a:r>
              <a:rPr dirty="0" err="1"/>
              <a:t>XGBoost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30667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rPr dirty="0"/>
              <a:t>Data Wrangling - Notebook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30207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269199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Steps:</a:t>
            </a:r>
            <a:br>
              <a:rPr dirty="0"/>
            </a:br>
            <a:r>
              <a:rPr dirty="0"/>
              <a:t>- Load raw data</a:t>
            </a:r>
            <a:br>
              <a:rPr dirty="0"/>
            </a:br>
            <a:r>
              <a:rPr dirty="0"/>
              <a:t>- Filter relevant types</a:t>
            </a:r>
            <a:br>
              <a:rPr dirty="0"/>
            </a:br>
            <a:r>
              <a:rPr dirty="0"/>
              <a:t>- Drop unnecessary columns</a:t>
            </a:r>
            <a:br>
              <a:rPr dirty="0"/>
            </a:br>
            <a:r>
              <a:rPr dirty="0"/>
              <a:t>- Handle data quality (zeros, outliers)</a:t>
            </a:r>
            <a:br>
              <a:rPr dirty="0"/>
            </a:br>
            <a:r>
              <a:rPr dirty="0"/>
              <a:t>- Verify balance consistency</a:t>
            </a:r>
            <a:br>
              <a:rPr dirty="0"/>
            </a:br>
            <a:r>
              <a:rPr dirty="0"/>
              <a:t>- Save processed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EDA - 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318407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3680" y="2531437"/>
            <a:ext cx="43383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Checks:</a:t>
            </a:r>
            <a:br>
              <a:rPr dirty="0"/>
            </a:br>
            <a:r>
              <a:rPr dirty="0"/>
              <a:t>- Shape, types, stats</a:t>
            </a:r>
            <a:br>
              <a:rPr dirty="0"/>
            </a:br>
            <a:r>
              <a:rPr dirty="0"/>
              <a:t>- Severe class imbalance (~0.1% fraud)</a:t>
            </a:r>
            <a:br>
              <a:rPr dirty="0"/>
            </a:br>
            <a:r>
              <a:rPr dirty="0"/>
              <a:t>- Feature distributions (skew, outliers)</a:t>
            </a:r>
            <a:br>
              <a:rPr dirty="0"/>
            </a:br>
            <a:r>
              <a:rPr dirty="0"/>
              <a:t>- Count plots for transaction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5 of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653B9-5F36-B7E6-C820-3993DAEE6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382" y="1646283"/>
            <a:ext cx="4652332" cy="3973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6686" y="277125"/>
            <a:ext cx="32729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rPr dirty="0"/>
              <a:t>EDA - 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277125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6 of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E07DFC-FB58-8876-BAD6-7C38D5031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5" y="1278864"/>
            <a:ext cx="6125030" cy="51297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FFC0D-125F-6211-19AE-28A25505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D2C8D4-A279-886A-63FA-3770196BFF0E}"/>
              </a:ext>
            </a:extLst>
          </p:cNvPr>
          <p:cNvSpPr txBox="1"/>
          <p:nvPr/>
        </p:nvSpPr>
        <p:spPr>
          <a:xfrm>
            <a:off x="457200" y="96105"/>
            <a:ext cx="33237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EDA - Part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8A74F4-26A3-DC22-1348-0A6666FE20D2}"/>
              </a:ext>
            </a:extLst>
          </p:cNvPr>
          <p:cNvSpPr/>
          <p:nvPr/>
        </p:nvSpPr>
        <p:spPr>
          <a:xfrm>
            <a:off x="0" y="-1"/>
            <a:ext cx="9144000" cy="30207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ED71B-7BF9-A307-A836-00DD55AE201B}"/>
              </a:ext>
            </a:extLst>
          </p:cNvPr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6 of 18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12D0-6C7A-388F-BF3F-525E71581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914" y="1174525"/>
            <a:ext cx="6988629" cy="509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FC260-B51E-8147-7D90-7FAF4939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7F23DC-D247-F26F-2ABF-6E53D0B95E34}"/>
              </a:ext>
            </a:extLst>
          </p:cNvPr>
          <p:cNvSpPr txBox="1"/>
          <p:nvPr/>
        </p:nvSpPr>
        <p:spPr>
          <a:xfrm>
            <a:off x="457200" y="96105"/>
            <a:ext cx="33237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EDA - Part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EC5B2-3C09-181B-928A-FFA630AE7C5D}"/>
              </a:ext>
            </a:extLst>
          </p:cNvPr>
          <p:cNvSpPr/>
          <p:nvPr/>
        </p:nvSpPr>
        <p:spPr>
          <a:xfrm>
            <a:off x="0" y="-1"/>
            <a:ext cx="9144000" cy="25483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CCFC0-7D0B-9E9B-5C3F-2295FDF2D444}"/>
              </a:ext>
            </a:extLst>
          </p:cNvPr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6 of 18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6F7F83-5998-1B46-6D5E-6DE9C924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569908"/>
            <a:ext cx="8274756" cy="44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1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EDA -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32228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Key Takeaways:</a:t>
            </a:r>
            <a:br/>
            <a:r>
              <a:t>- Handle imbalance with SMOTE</a:t>
            </a:r>
            <a:br/>
            <a:r>
              <a:t>- Engineer balance deltas</a:t>
            </a:r>
            <a:br/>
            <a:r>
              <a:t>- Fraud hidden in balance inconsistencies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7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33727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Steps:</a:t>
            </a:r>
            <a:br/>
            <a:r>
              <a:t>- Drop unnecessary columns</a:t>
            </a:r>
            <a:br/>
            <a:r>
              <a:t>- Feature engineering: balance diffs, logs</a:t>
            </a:r>
            <a:br/>
            <a:r>
              <a:t>- Encode categorical type</a:t>
            </a:r>
            <a:br/>
            <a:r>
              <a:t>- Scale numericals</a:t>
            </a:r>
            <a:br/>
            <a:r>
              <a:t>- Stratified train-test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8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6571" y="82617"/>
            <a:ext cx="514531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rPr dirty="0"/>
              <a:t>Preprocessing Visuals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638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9 of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9DA46-226E-BC39-1567-EFE0BE2E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32" y="1194774"/>
            <a:ext cx="6940735" cy="5388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5DC63-138A-B90B-DB36-E2BABB08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442E96-72B7-6507-CD02-9FE07F94FEBB}"/>
              </a:ext>
            </a:extLst>
          </p:cNvPr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Preprocessing Visuals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3DF50-853E-E039-DB82-66693ADEFAC0}"/>
              </a:ext>
            </a:extLst>
          </p:cNvPr>
          <p:cNvSpPr/>
          <p:nvPr/>
        </p:nvSpPr>
        <p:spPr>
          <a:xfrm>
            <a:off x="0" y="-1"/>
            <a:ext cx="9144000" cy="23984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9FAB6-C76B-436D-6FC3-A40823C62BCC}"/>
              </a:ext>
            </a:extLst>
          </p:cNvPr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9 of 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464EC-7D1D-AB65-FA27-2BF9CF710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14" y="1509396"/>
            <a:ext cx="7577882" cy="476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81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Modeling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7318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Steps:</a:t>
            </a:r>
            <a:br/>
            <a:r>
              <a:t>- Encode type</a:t>
            </a:r>
            <a:br/>
            <a:r>
              <a:t>- Feature selection (safe set)</a:t>
            </a:r>
            <a:br/>
            <a:r>
              <a:t>- Temporal split</a:t>
            </a:r>
            <a:br/>
            <a:r>
              <a:t>- Scale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10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Modeling - SMOTE &amp;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29980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Steps:</a:t>
            </a:r>
            <a:br/>
            <a:r>
              <a:t>- Baseline recall check</a:t>
            </a:r>
            <a:br/>
            <a:r>
              <a:t>- Apply SMOTE if needed</a:t>
            </a:r>
            <a:br/>
            <a:r>
              <a:t>- Models: Logistic Regression, Random Forest,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11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Logistic Regression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25483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Confusion Matrix:</a:t>
            </a:r>
            <a:br/>
            <a:r>
              <a:t>High recall, balanced precision.</a:t>
            </a:r>
            <a:br/>
            <a:r>
              <a:t>Report: Fraud recall ~92%.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12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Random Forest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7318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Confusion Matrix:</a:t>
            </a:r>
            <a:br/>
            <a:r>
              <a:t>Strong precision, high recall.</a:t>
            </a:r>
            <a:br/>
            <a:r>
              <a:t>Report: Fraud recall ~92-100%.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13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XGBoost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Confusion Matrix:</a:t>
            </a:r>
            <a:br/>
            <a:r>
              <a:t>Balanced results.</a:t>
            </a:r>
            <a:br/>
            <a:r>
              <a:t>Feature Importances: balances strongest.</a:t>
            </a:r>
            <a:br/>
            <a:r>
              <a:t>Threshold tuning improved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14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E71EC-0FA5-C47C-2168-E9684D1A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EB17FB-182D-1034-10BD-E98D0737FA4C}"/>
              </a:ext>
            </a:extLst>
          </p:cNvPr>
          <p:cNvSpPr txBox="1"/>
          <p:nvPr/>
        </p:nvSpPr>
        <p:spPr>
          <a:xfrm>
            <a:off x="457200" y="182879"/>
            <a:ext cx="5232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Results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3830D-BF9A-7B35-5AE3-9044EBFA985F}"/>
              </a:ext>
            </a:extLst>
          </p:cNvPr>
          <p:cNvSpPr/>
          <p:nvPr/>
        </p:nvSpPr>
        <p:spPr>
          <a:xfrm>
            <a:off x="0" y="-1"/>
            <a:ext cx="9144000" cy="29980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F1564-A614-C656-39ED-1E7990DED01D}"/>
              </a:ext>
            </a:extLst>
          </p:cNvPr>
          <p:cNvSpPr txBox="1"/>
          <p:nvPr/>
        </p:nvSpPr>
        <p:spPr>
          <a:xfrm>
            <a:off x="253417" y="1044653"/>
            <a:ext cx="781594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Summary:</a:t>
            </a:r>
            <a:br>
              <a:rPr dirty="0"/>
            </a:br>
            <a:r>
              <a:rPr dirty="0"/>
              <a:t>- Logistic Regression: reliable</a:t>
            </a:r>
            <a:br>
              <a:rPr dirty="0"/>
            </a:br>
            <a:r>
              <a:rPr dirty="0"/>
              <a:t>- Random Forest: strong performer</a:t>
            </a:r>
            <a:br>
              <a:rPr dirty="0"/>
            </a:br>
            <a:r>
              <a:rPr dirty="0"/>
              <a:t>- </a:t>
            </a:r>
            <a:r>
              <a:rPr dirty="0" err="1"/>
              <a:t>XGBoost</a:t>
            </a:r>
            <a:r>
              <a:rPr dirty="0"/>
              <a:t>: best after tuning</a:t>
            </a:r>
            <a:br>
              <a:rPr dirty="0"/>
            </a:b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FAA65-80A0-617C-365A-D9A7E7574634}"/>
              </a:ext>
            </a:extLst>
          </p:cNvPr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15 of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6D349D-49CD-781D-B5F4-DC23F9D47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8" y="3106057"/>
            <a:ext cx="4295338" cy="36399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0DE114-058B-32E8-2906-E3E8FBEA0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636" y="3106057"/>
            <a:ext cx="4793363" cy="363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8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Results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9144000" cy="23984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743" y="1335742"/>
            <a:ext cx="410609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Summary:</a:t>
            </a:r>
            <a:br>
              <a:rPr dirty="0"/>
            </a:b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15 of 18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0FCBD-15F9-1CFC-F613-BB9C326B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41" y="2158384"/>
            <a:ext cx="6647658" cy="43544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47338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1. Balances are most important features.</a:t>
            </a:r>
            <a:br/>
            <a:r>
              <a:t>2. Temporal split prevents leakage.</a:t>
            </a:r>
            <a:br/>
            <a:r>
              <a:t>3. SMOTE can help but needs care.</a:t>
            </a:r>
            <a:br/>
            <a:r>
              <a:t>4. High recall achieved.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16 of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47338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Sentinel is robust.</a:t>
            </a:r>
            <a:br/>
            <a:r>
              <a:t>Deploy as API.</a:t>
            </a:r>
            <a:br/>
            <a:r>
              <a:t>Retrain quarterly.</a:t>
            </a:r>
            <a:br/>
            <a:r>
              <a:t>Enhance with ensembles.</a:t>
            </a:r>
            <a:br/>
            <a:r>
              <a:t>Potential savings: 80-90% loss reduction.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17 of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B0F0"/>
                </a:solidFill>
              </a:defRPr>
            </a:pPr>
            <a: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Questions?</a:t>
            </a:r>
            <a:br/>
            <a:r>
              <a:t>GitHub: https://github.com/mesfin-k/capstone-two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B0F0"/>
                </a:solidFill>
              </a:defRPr>
            </a:pPr>
            <a:r>
              <a:t>Slide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182</TotalTime>
  <Words>1730</Words>
  <Application>Microsoft Office PowerPoint</Application>
  <PresentationFormat>On-screen Show (4:3)</PresentationFormat>
  <Paragraphs>148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Mesfin Kebede</dc:creator>
  <cp:keywords/>
  <dc:description>generated using python-pptx</dc:description>
  <cp:lastModifiedBy>Mesfin Kebede</cp:lastModifiedBy>
  <cp:revision>2</cp:revision>
  <dcterms:created xsi:type="dcterms:W3CDTF">2013-01-27T09:14:16Z</dcterms:created>
  <dcterms:modified xsi:type="dcterms:W3CDTF">2025-09-24T00:21:18Z</dcterms:modified>
  <cp:category/>
</cp:coreProperties>
</file>